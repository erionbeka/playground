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1" snapToObjects="1"/>
  </p:slideViewPr>
  <p:notesTextViewPr/>
  <p:gridSpacing cx="72008" cy="72008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715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/>
            <a:r>
              <a:rPr lang="en-US" sz="2800" b="1"/>
              <a:t>Playground Life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85800" y="148590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/>
            <a:r>
              <a:rPr lang="en-US" sz="1800"/>
              <a:t>Clinic-ready learning app for autistic children</a:t>
            </a:r>
          </a:p>
        </p:txBody>
      </p:sp>
      <p:sp>
        <p:nvSpPr>
          <p:cNvPr id="5" name="Accent Line"/>
          <p:cNvSpPr/>
          <p:nvPr/>
        </p:nvSpPr>
        <p:spPr>
          <a:xfrm>
            <a:off x="685800" y="1314450"/>
            <a:ext cx="2286000" cy="38100"/>
          </a:xfrm>
          <a:prstGeom prst="rect">
            <a:avLst/>
          </a:prstGeom>
          <a:solidFill>
            <a:srgbClr val="6FA9BF"/>
          </a:solidFill>
          <a:ln>
            <a:noFill/>
          </a:ln>
        </p:spPr>
      </p:sp>
      <p:sp>
        <p:nvSpPr>
          <p:cNvPr id="4" name="Body"/>
          <p:cNvSpPr txBox="1"/>
          <p:nvPr/>
        </p:nvSpPr>
        <p:spPr>
          <a:xfrm>
            <a:off x="685800" y="2286000"/>
            <a:ext cx="8229600" cy="37465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/>
            <a:r>
              <a:rPr lang="en-US" sz="1800"/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715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/>
            <a:r>
              <a:rPr lang="en-US" sz="2800" b="1"/>
              <a:t>What The App Does</a:t>
            </a:r>
          </a:p>
        </p:txBody>
      </p:sp>
      <p:sp>
        <p:nvSpPr>
          <p:cNvPr id="5" name="Accent Line"/>
          <p:cNvSpPr/>
          <p:nvPr/>
        </p:nvSpPr>
        <p:spPr>
          <a:xfrm>
            <a:off x="685800" y="1314450"/>
            <a:ext cx="2286000" cy="38100"/>
          </a:xfrm>
          <a:prstGeom prst="rect">
            <a:avLst/>
          </a:prstGeom>
          <a:solidFill>
            <a:srgbClr val="6FA9BF"/>
          </a:solidFill>
          <a:ln>
            <a:noFill/>
          </a:ln>
        </p:spPr>
      </p:sp>
      <p:sp>
        <p:nvSpPr>
          <p:cNvPr id="4" name="Body"/>
          <p:cNvSpPr txBox="1"/>
          <p:nvPr/>
        </p:nvSpPr>
        <p:spPr>
          <a:xfrm>
            <a:off x="685800" y="1778000"/>
            <a:ext cx="8229600" cy="37465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 marL="342900" indent="-228600">
              <a:buChar char="•"/>
            </a:pPr>
            <a:r>
              <a:rPr lang="en-US" sz="2200"/>
              <a:t>Therapists assign homework and classwork</a:t>
            </a:r>
          </a:p>
          <a:p>
            <a:pPr lvl="0" marL="342900" indent="-228600">
              <a:buChar char="•"/>
            </a:pPr>
            <a:r>
              <a:rPr lang="en-US" sz="2200"/>
              <a:t>Families sign in and follow guided activities</a:t>
            </a:r>
          </a:p>
          <a:p>
            <a:pPr lvl="0" marL="342900" indent="-228600">
              <a:buChar char="•"/>
            </a:pPr>
            <a:r>
              <a:rPr lang="en-US" sz="2200"/>
              <a:t>Children play structured learning games</a:t>
            </a:r>
          </a:p>
          <a:p>
            <a:pPr lvl="0" marL="342900" indent="-228600">
              <a:buChar char="•"/>
            </a:pPr>
            <a:r>
              <a:rPr lang="en-US" sz="2200"/>
              <a:t>The system tracks skill growth, support needs, and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715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/>
            <a:r>
              <a:rPr lang="en-US" sz="2800" b="1"/>
              <a:t>What Has Been Built</a:t>
            </a:r>
          </a:p>
        </p:txBody>
      </p:sp>
      <p:sp>
        <p:nvSpPr>
          <p:cNvPr id="5" name="Accent Line"/>
          <p:cNvSpPr/>
          <p:nvPr/>
        </p:nvSpPr>
        <p:spPr>
          <a:xfrm>
            <a:off x="685800" y="1314450"/>
            <a:ext cx="2286000" cy="38100"/>
          </a:xfrm>
          <a:prstGeom prst="rect">
            <a:avLst/>
          </a:prstGeom>
          <a:solidFill>
            <a:srgbClr val="6FA9BF"/>
          </a:solidFill>
          <a:ln>
            <a:noFill/>
          </a:ln>
        </p:spPr>
      </p:sp>
      <p:sp>
        <p:nvSpPr>
          <p:cNvPr id="4" name="Body"/>
          <p:cNvSpPr txBox="1"/>
          <p:nvPr/>
        </p:nvSpPr>
        <p:spPr>
          <a:xfrm>
            <a:off x="685800" y="1778000"/>
            <a:ext cx="8229600" cy="37465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 marL="342900" indent="-228600">
              <a:buChar char="•"/>
            </a:pPr>
            <a:r>
              <a:rPr lang="en-US" sz="2200"/>
              <a:t>Therapist, family, and admin role separation</a:t>
            </a:r>
          </a:p>
          <a:p>
            <a:pPr lvl="0" marL="342900" indent="-228600">
              <a:buChar char="•"/>
            </a:pPr>
            <a:r>
              <a:rPr lang="en-US" sz="2200"/>
              <a:t>Child clinical profiles with goals, diagnosis, support needs, and family onboarding</a:t>
            </a:r>
          </a:p>
          <a:p>
            <a:pPr lvl="0" marL="342900" indent="-228600">
              <a:buChar char="•"/>
            </a:pPr>
            <a:r>
              <a:rPr lang="en-US" sz="2200"/>
              <a:t>Monthly plans with weekly objectives, support levels, and family guidance</a:t>
            </a:r>
          </a:p>
          <a:p>
            <a:pPr lvl="0" marL="342900" indent="-228600">
              <a:buChar char="•"/>
            </a:pPr>
            <a:r>
              <a:rPr lang="en-US" sz="2200"/>
              <a:t>Reporting with approvals, skill trends, and audit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715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/>
            <a:r>
              <a:rPr lang="en-US" sz="2800" b="1"/>
              <a:t>Smart Personalization</a:t>
            </a:r>
          </a:p>
        </p:txBody>
      </p:sp>
      <p:sp>
        <p:nvSpPr>
          <p:cNvPr id="5" name="Accent Line"/>
          <p:cNvSpPr/>
          <p:nvPr/>
        </p:nvSpPr>
        <p:spPr>
          <a:xfrm>
            <a:off x="685800" y="1314450"/>
            <a:ext cx="2286000" cy="38100"/>
          </a:xfrm>
          <a:prstGeom prst="rect">
            <a:avLst/>
          </a:prstGeom>
          <a:solidFill>
            <a:srgbClr val="6FA9BF"/>
          </a:solidFill>
          <a:ln>
            <a:noFill/>
          </a:ln>
        </p:spPr>
      </p:sp>
      <p:sp>
        <p:nvSpPr>
          <p:cNvPr id="4" name="Body"/>
          <p:cNvSpPr txBox="1"/>
          <p:nvPr/>
        </p:nvSpPr>
        <p:spPr>
          <a:xfrm>
            <a:off x="685800" y="1778000"/>
            <a:ext cx="8229600" cy="37465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 marL="342900" indent="-228600">
              <a:buChar char="•"/>
            </a:pPr>
            <a:r>
              <a:rPr lang="en-US" sz="2200"/>
              <a:t>Child readiness state based on profile, regulation, transitions, communication, and results</a:t>
            </a:r>
          </a:p>
          <a:p>
            <a:pPr lvl="0" marL="342900" indent="-228600">
              <a:buChar char="•"/>
            </a:pPr>
            <a:r>
              <a:rPr lang="en-US" sz="2200"/>
              <a:t>Recommendation reasons visible to therapists</a:t>
            </a:r>
          </a:p>
          <a:p>
            <a:pPr lvl="0" marL="342900" indent="-228600">
              <a:buChar char="•"/>
            </a:pPr>
            <a:r>
              <a:rPr lang="en-US" sz="2200"/>
              <a:t>Family-friendly guidance for why the current plan fits the child</a:t>
            </a:r>
          </a:p>
          <a:p>
            <a:pPr lvl="0" marL="342900" indent="-228600">
              <a:buChar char="•"/>
            </a:pPr>
            <a:r>
              <a:rPr lang="en-US" sz="2200"/>
              <a:t>Rotation logic that pushes the child into new but appropriate categories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715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/>
            <a:r>
              <a:rPr lang="en-US" sz="2800" b="1"/>
              <a:t>Games And Progression</a:t>
            </a:r>
          </a:p>
        </p:txBody>
      </p:sp>
      <p:sp>
        <p:nvSpPr>
          <p:cNvPr id="5" name="Accent Line"/>
          <p:cNvSpPr/>
          <p:nvPr/>
        </p:nvSpPr>
        <p:spPr>
          <a:xfrm>
            <a:off x="685800" y="1314450"/>
            <a:ext cx="2286000" cy="38100"/>
          </a:xfrm>
          <a:prstGeom prst="rect">
            <a:avLst/>
          </a:prstGeom>
          <a:solidFill>
            <a:srgbClr val="6FA9BF"/>
          </a:solidFill>
          <a:ln>
            <a:noFill/>
          </a:ln>
        </p:spPr>
      </p:sp>
      <p:sp>
        <p:nvSpPr>
          <p:cNvPr id="4" name="Body"/>
          <p:cNvSpPr txBox="1"/>
          <p:nvPr/>
        </p:nvSpPr>
        <p:spPr>
          <a:xfrm>
            <a:off x="685800" y="1778000"/>
            <a:ext cx="8229600" cy="37465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 marL="342900" indent="-228600">
              <a:buChar char="•"/>
            </a:pPr>
            <a:r>
              <a:rPr lang="en-US" sz="2200"/>
              <a:t>Full game sweep tested across the catalog</a:t>
            </a:r>
          </a:p>
          <a:p>
            <a:pPr lvl="0" marL="342900" indent="-228600">
              <a:buChar char="•"/>
            </a:pPr>
            <a:r>
              <a:rPr lang="en-US" sz="2200"/>
              <a:t>Tap and building games improved</a:t>
            </a:r>
          </a:p>
          <a:p>
            <a:pPr lvl="0" marL="342900" indent="-228600">
              <a:buChar char="•"/>
            </a:pPr>
            <a:r>
              <a:rPr lang="en-US" sz="2200"/>
              <a:t>Froebel-style construction, symmetry, model-copying, and pattern games added</a:t>
            </a:r>
          </a:p>
          <a:p>
            <a:pPr lvl="0" marL="342900" indent="-228600">
              <a:buChar char="•"/>
            </a:pPr>
            <a:r>
              <a:rPr lang="en-US" sz="2200"/>
              <a:t>Support level now changes prompts, hints, pacing, and challenge in supported engines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715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/>
            <a:r>
              <a:rPr lang="en-US" sz="2800" b="1"/>
              <a:t>Clinic Workflow Improvements</a:t>
            </a:r>
          </a:p>
        </p:txBody>
      </p:sp>
      <p:sp>
        <p:nvSpPr>
          <p:cNvPr id="5" name="Accent Line"/>
          <p:cNvSpPr/>
          <p:nvPr/>
        </p:nvSpPr>
        <p:spPr>
          <a:xfrm>
            <a:off x="685800" y="1314450"/>
            <a:ext cx="2286000" cy="38100"/>
          </a:xfrm>
          <a:prstGeom prst="rect">
            <a:avLst/>
          </a:prstGeom>
          <a:solidFill>
            <a:srgbClr val="6FA9BF"/>
          </a:solidFill>
          <a:ln>
            <a:noFill/>
          </a:ln>
        </p:spPr>
      </p:sp>
      <p:sp>
        <p:nvSpPr>
          <p:cNvPr id="4" name="Body"/>
          <p:cNvSpPr txBox="1"/>
          <p:nvPr/>
        </p:nvSpPr>
        <p:spPr>
          <a:xfrm>
            <a:off x="685800" y="1778000"/>
            <a:ext cx="8229600" cy="37465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 marL="342900" indent="-228600">
              <a:buChar char="•"/>
            </a:pPr>
            <a:r>
              <a:rPr lang="en-US" sz="2200"/>
              <a:t>Caseload overview with alerts</a:t>
            </a:r>
          </a:p>
          <a:p>
            <a:pPr lvl="0" marL="342900" indent="-228600">
              <a:buChar char="•"/>
            </a:pPr>
            <a:r>
              <a:rPr lang="en-US" sz="2200"/>
              <a:t>Reusable goal templates</a:t>
            </a:r>
          </a:p>
          <a:p>
            <a:pPr lvl="0" marL="342900" indent="-228600">
              <a:buChar char="•"/>
            </a:pPr>
            <a:r>
              <a:rPr lang="en-US" sz="2200"/>
              <a:t>Quick assign flow with advanced options hidden unless needed</a:t>
            </a:r>
          </a:p>
          <a:p>
            <a:pPr lvl="0" marL="342900" indent="-228600">
              <a:buChar char="•"/>
            </a:pPr>
            <a:r>
              <a:rPr lang="en-US" sz="2200"/>
              <a:t>Homework, classwork, approvals, and family-specific assignment targeting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715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/>
            <a:r>
              <a:rPr lang="en-US" sz="2800" b="1"/>
              <a:t>What Makes It Clinic-Ready</a:t>
            </a:r>
          </a:p>
        </p:txBody>
      </p:sp>
      <p:sp>
        <p:nvSpPr>
          <p:cNvPr id="5" name="Accent Line"/>
          <p:cNvSpPr/>
          <p:nvPr/>
        </p:nvSpPr>
        <p:spPr>
          <a:xfrm>
            <a:off x="685800" y="1314450"/>
            <a:ext cx="2286000" cy="38100"/>
          </a:xfrm>
          <a:prstGeom prst="rect">
            <a:avLst/>
          </a:prstGeom>
          <a:solidFill>
            <a:srgbClr val="6FA9BF"/>
          </a:solidFill>
          <a:ln>
            <a:noFill/>
          </a:ln>
        </p:spPr>
      </p:sp>
      <p:sp>
        <p:nvSpPr>
          <p:cNvPr id="4" name="Body"/>
          <p:cNvSpPr txBox="1"/>
          <p:nvPr/>
        </p:nvSpPr>
        <p:spPr>
          <a:xfrm>
            <a:off x="685800" y="1778000"/>
            <a:ext cx="8229600" cy="37465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 marL="342900" indent="-228600">
              <a:buChar char="•"/>
            </a:pPr>
            <a:r>
              <a:rPr lang="en-US" sz="2200"/>
              <a:t>Structured child profiles</a:t>
            </a:r>
          </a:p>
          <a:p>
            <a:pPr lvl="0" marL="342900" indent="-228600">
              <a:buChar char="•"/>
            </a:pPr>
            <a:r>
              <a:rPr lang="en-US" sz="2200"/>
              <a:t>Therapist control over progression</a:t>
            </a:r>
          </a:p>
          <a:p>
            <a:pPr lvl="0" marL="342900" indent="-228600">
              <a:buChar char="•"/>
            </a:pPr>
            <a:r>
              <a:rPr lang="en-US" sz="2200"/>
              <a:t>Explainable recommendations</a:t>
            </a:r>
          </a:p>
          <a:p>
            <a:pPr lvl="0" marL="342900" indent="-228600">
              <a:buChar char="•"/>
            </a:pPr>
            <a:r>
              <a:rPr lang="en-US" sz="2200"/>
              <a:t>Parent guidance, reports, and audit trail</a:t>
            </a:r>
          </a:p>
          <a:p>
            <a:pPr lvl="0" marL="342900" indent="-228600">
              <a:buChar char="•"/>
            </a:pPr>
            <a:r>
              <a:rPr lang="en-US" sz="2200"/>
              <a:t>Ready for backend and database integration as the next step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layground Minimal">
      <a:dk1>
        <a:srgbClr val="1F2933"/>
      </a:dk1>
      <a:lt1>
        <a:srgbClr val="F6F2EA"/>
      </a:lt1>
      <a:dk2>
        <a:srgbClr val="314E5E"/>
      </a:dk2>
      <a:lt2>
        <a:srgbClr val="FFFDF8"/>
      </a:lt2>
      <a:accent1>
        <a:srgbClr val="6FA9BF"/>
      </a:accent1>
      <a:accent2>
        <a:srgbClr val="E7B977"/>
      </a:accent2>
      <a:accent3>
        <a:srgbClr val="90B89A"/>
      </a:accent3>
      <a:accent4>
        <a:srgbClr val="CC8B7A"/>
      </a:accent4>
      <a:accent5>
        <a:srgbClr val="7A8FA6"/>
      </a:accent5>
      <a:accent6>
        <a:srgbClr val="D9C9A8"/>
      </a:accent6>
      <a:hlink>
        <a:srgbClr val="2E74B5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7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8" baseType="lpstr">
      <vt:lpstr>Office Theme</vt:lpstr>
      <vt:lpstr>Playground Life</vt:lpstr>
      <vt:lpstr>What The App Does</vt:lpstr>
      <vt:lpstr>What Has Been Built</vt:lpstr>
      <vt:lpstr>Smart Personalization</vt:lpstr>
      <vt:lpstr>Games And Progression</vt:lpstr>
      <vt:lpstr>Clinic Workflow Improvements</vt:lpstr>
      <vt:lpstr>What Makes It Clinic-Ready</vt:lpstr>
    </vt:vector>
  </TitlesOfPart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Playground Life Clinic Overview</dc:title>
  <dc:creator>Codex</dc:creator>
  <cp:lastModifiedBy>Codex</cp:lastModifiedBy>
  <dcterms:created xsi:type="dcterms:W3CDTF">2026-04-24T13:14:03Z</dcterms:created>
  <dcterms:modified xsi:type="dcterms:W3CDTF">2026-04-24T13:14:03Z</dcterms:modified>
</cp:coreProperties>
</file>